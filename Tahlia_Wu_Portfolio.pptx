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85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82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tahlia@engineering.upenn.edu" TargetMode="External"/><Relationship Id="rId4" Type="http://schemas.openxmlformats.org/officeDocument/2006/relationships/hyperlink" Target="https://www.linkedin.com/in/tahlia-wu-508aa832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tahlia@engineering.upenn.edu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E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Engineering &amp; Robotics @ UPenn 2028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79"/>
            <a:ext cx="4922520" cy="160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Skilled in </a:t>
            </a:r>
            <a:r>
              <a:rPr lang="en-US" sz="2200" b="1" dirty="0">
                <a:solidFill>
                  <a:srgbClr val="2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software and hardware</a:t>
            </a:r>
            <a:r>
              <a:rPr lang="en-US" sz="22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 specialize in electromechanical system integration and automating data analysis.</a:t>
            </a:r>
            <a:endParaRPr lang="en-US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99FA53-57AF-FB0F-D312-61FCECFED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986" y="1234440"/>
            <a:ext cx="3083814" cy="30838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tahlia@engineering.upenn.edu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Projects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80944" y="2953512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08960" y="2825496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2064" y="1316736"/>
            <a:ext cx="2542032" cy="1097280"/>
          </a:xfrm>
          <a:prstGeom prst="rect">
            <a:avLst/>
          </a:prstGeom>
          <a:solidFill>
            <a:srgbClr val="F1EBDC"/>
          </a:solidFill>
          <a:ln w="12700">
            <a:solidFill>
              <a:srgbClr val="E1D9C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12064" y="1316736"/>
            <a:ext cx="2542032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flowbot-only-cover.png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5135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627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FlowBot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126187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1261872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261872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9864" y="2953512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97880" y="2825496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383280" y="25135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Machining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26627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Kirby Stirling Engine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35040" y="126187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35040" y="1261872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1261872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58784" y="2953512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0" y="2825496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172200" y="25135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26627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Shelf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30632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306324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3063240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980944" y="475488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108960" y="4626864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94360" y="4261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4425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Box Shelf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246120" y="30632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46120" y="306324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46120" y="3063240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69864" y="475488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897880" y="4626864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3383280" y="4261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3383280" y="4425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Makeup Organizer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035040" y="30632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035040" y="306324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035040" y="3063240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558784" y="475488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686800" y="4626864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6172200" y="4261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172200" y="4425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Pollution Model</a:t>
            </a:r>
            <a:endParaRPr lang="en-US" sz="14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2795026-4EFA-B42C-2B88-7FC672C80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666" b="10554"/>
          <a:stretch>
            <a:fillRect/>
          </a:stretch>
        </p:blipFill>
        <p:spPr>
          <a:xfrm>
            <a:off x="512064" y="1307707"/>
            <a:ext cx="2542030" cy="114354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7CA49BE4-6315-977A-6D4C-6426DB850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736" y="1325880"/>
            <a:ext cx="1420368" cy="109728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16740B1-D2A3-5D67-2C8E-CB757FF044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816"/>
          <a:stretch>
            <a:fillRect/>
          </a:stretch>
        </p:blipFill>
        <p:spPr>
          <a:xfrm>
            <a:off x="3743276" y="1355301"/>
            <a:ext cx="1676068" cy="109595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20403C8E-7CD7-83CD-9DFA-8F2A5A3517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010" y="3139444"/>
            <a:ext cx="1736326" cy="107073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22496F42-2B52-2554-02F3-55215F35C05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547" t="8813" r="13804" b="7496"/>
          <a:stretch>
            <a:fillRect/>
          </a:stretch>
        </p:blipFill>
        <p:spPr>
          <a:xfrm>
            <a:off x="3945002" y="3144329"/>
            <a:ext cx="1253995" cy="107171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669C8275-BCC5-645F-4B0A-2813FE7C70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4693" y="3118104"/>
            <a:ext cx="1116775" cy="1116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tahlia@engineering.upenn.edu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77240"/>
            <a:ext cx="1040586" cy="237744"/>
          </a:xfrm>
          <a:prstGeom prst="rect">
            <a:avLst/>
          </a:prstGeom>
          <a:noFill/>
          <a:ln w="12700">
            <a:solidFill>
              <a:srgbClr val="2E5C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cs typeface="Arial" pitchFamily="34" charset="-120"/>
              </a:rPr>
              <a:t>Mechatronics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155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FlowBot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41232" y="2299715"/>
            <a:ext cx="3189896" cy="242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engineered </a:t>
            </a:r>
            <a:r>
              <a:rPr lang="en-US" sz="14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 mechatronic </a:t>
            </a:r>
            <a:r>
              <a:rPr lang="en-US" sz="1400">
                <a:latin typeface="Cambria" pitchFamily="34" charset="0"/>
                <a:ea typeface="Cambria" pitchFamily="34" charset="-122"/>
                <a:cs typeface="Cambria" pitchFamily="34" charset="-120"/>
              </a:rPr>
              <a:t>system with minimal oversight</a:t>
            </a:r>
            <a:endParaRPr lang="en-US" sz="1400" dirty="0"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Designed a </a:t>
            </a: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vertical linear </a:t>
            </a:r>
            <a:r>
              <a:rPr lang="en-US" sz="1400" b="1">
                <a:latin typeface="Cambria" pitchFamily="34" charset="0"/>
                <a:ea typeface="Cambria" pitchFamily="34" charset="-122"/>
                <a:cs typeface="Cambria" pitchFamily="34" charset="-120"/>
              </a:rPr>
              <a:t>actuator with 80/20 from </a:t>
            </a: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scratch </a:t>
            </a:r>
            <a:r>
              <a:rPr lang="en-US" sz="14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for &lt;$200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Designed in CAD and </a:t>
            </a:r>
            <a:r>
              <a:rPr lang="en-US" sz="1400" b="1" dirty="0"/>
              <a:t>3D-printed</a:t>
            </a:r>
            <a:r>
              <a:rPr lang="en-US" sz="1400" dirty="0"/>
              <a:t> hardware integration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PID control loop </a:t>
            </a:r>
            <a:r>
              <a:rPr lang="en-US" sz="1400" dirty="0"/>
              <a:t>with </a:t>
            </a:r>
            <a:r>
              <a:rPr lang="en-US" sz="1400" dirty="0" err="1"/>
              <a:t>OptiTrack</a:t>
            </a:r>
            <a:r>
              <a:rPr lang="en-US" sz="1400" dirty="0"/>
              <a:t> </a:t>
            </a:r>
            <a:r>
              <a:rPr lang="en-US" sz="1400"/>
              <a:t>motion capture achieveing 6mm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Diagnosed and debugged a </a:t>
            </a:r>
            <a:r>
              <a:rPr lang="en-US" sz="1400" b="1"/>
              <a:t>data buffer overflow error</a:t>
            </a:r>
            <a:r>
              <a:rPr lang="en-US" sz="1400"/>
              <a:t> in software</a:t>
            </a:r>
            <a:endParaRPr lang="en-US" sz="1400" b="1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00200"/>
            <a:ext cx="1040587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Control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589227" y="1600200"/>
            <a:ext cx="1192393" cy="256030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 Analysis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929384"/>
            <a:ext cx="641617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cs typeface="Arial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79897" y="1929386"/>
            <a:ext cx="2186735" cy="256030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cs typeface="Arial" pitchFamily="34" charset="-120"/>
              </a:rPr>
              <a:t>Electromechanical </a:t>
            </a:r>
            <a:r>
              <a:rPr lang="en-US" sz="1000" b="1" dirty="0">
                <a:solidFill>
                  <a:srgbClr val="1B3A66"/>
                </a:solidFill>
                <a:latin typeface="Arial" pitchFamily="34" charset="0"/>
                <a:cs typeface="Arial" pitchFamily="34" charset="-120"/>
              </a:rPr>
              <a:t>Integration</a:t>
            </a:r>
            <a:endParaRPr lang="en-US" sz="10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9541977-CB7B-0852-340C-D9CF61E8B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140" y="818157"/>
            <a:ext cx="2012444" cy="390929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9504E22-6B52-8FE5-AD52-E8F4DEEBB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596" y="3143693"/>
            <a:ext cx="2430568" cy="158375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0D358FA-FF47-BBAC-D696-28D685D627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6646" y="813585"/>
            <a:ext cx="2032467" cy="2231363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21DA900-2B0E-08F1-A81B-53A7BD5C2F11}"/>
              </a:ext>
            </a:extLst>
          </p:cNvPr>
          <p:cNvSpPr txBox="1"/>
          <p:nvPr/>
        </p:nvSpPr>
        <p:spPr>
          <a:xfrm>
            <a:off x="1898217" y="1251985"/>
            <a:ext cx="1468415" cy="256030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cs typeface="Arial" pitchFamily="34" charset="-120"/>
              </a:rPr>
              <a:t>Embedded Systems</a:t>
            </a:r>
            <a:endParaRPr lang="en-US" sz="1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5EBB85C-353E-0497-2CA8-71751B85D88D}"/>
              </a:ext>
            </a:extLst>
          </p:cNvPr>
          <p:cNvSpPr txBox="1"/>
          <p:nvPr/>
        </p:nvSpPr>
        <p:spPr>
          <a:xfrm>
            <a:off x="2873060" y="1604773"/>
            <a:ext cx="493573" cy="256030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cs typeface="Arial" pitchFamily="34" charset="-120"/>
              </a:rPr>
              <a:t>DAQ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tahlia@engineering.upenn.edu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77240"/>
            <a:ext cx="973836" cy="237744"/>
          </a:xfrm>
          <a:prstGeom prst="rect">
            <a:avLst/>
          </a:prstGeom>
          <a:noFill/>
          <a:ln w="12700">
            <a:solidFill>
              <a:srgbClr val="2E5C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1115568"/>
            <a:ext cx="34114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Kirby Stirling Engine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34339" y="2404874"/>
            <a:ext cx="3310487" cy="114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/>
              <a:t>Precision-machined</a:t>
            </a:r>
            <a:r>
              <a:rPr lang="en-US" sz="1400"/>
              <a:t> </a:t>
            </a:r>
            <a:r>
              <a:rPr lang="en-US" sz="1400" b="1"/>
              <a:t>17 parts from stock </a:t>
            </a:r>
            <a:r>
              <a:rPr lang="en-US" sz="1400"/>
              <a:t>to build a fully functional Stirling engine, showcasing </a:t>
            </a:r>
            <a:r>
              <a:rPr lang="en-US" sz="1400" b="1"/>
              <a:t>end-to-end product development </a:t>
            </a:r>
            <a:r>
              <a:rPr lang="en-US" sz="1400"/>
              <a:t>from CAD/CAM integration (SolidWorks, Mastercam).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441569" y="1627632"/>
            <a:ext cx="1325880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/ Mastercam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58889" y="1627632"/>
            <a:ext cx="612648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Lathe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61593" y="1636777"/>
            <a:ext cx="1183234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2.5-Axis Mill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951699" y="1978560"/>
            <a:ext cx="541325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GD&amp;T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1FC88A1-A586-963A-E545-96BFA2248B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88" t="9724" r="3394"/>
          <a:stretch>
            <a:fillRect/>
          </a:stretch>
        </p:blipFill>
        <p:spPr>
          <a:xfrm>
            <a:off x="6501154" y="2753408"/>
            <a:ext cx="2384142" cy="176192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ACB709B-9078-8C63-7195-D1673B0FBB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19" t="8732" r="7290" b="5424"/>
          <a:stretch>
            <a:fillRect/>
          </a:stretch>
        </p:blipFill>
        <p:spPr>
          <a:xfrm>
            <a:off x="4166834" y="2757370"/>
            <a:ext cx="2192062" cy="175796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1DD776D-426C-1144-6AA3-ECF4947AAC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226" b="16299"/>
          <a:stretch>
            <a:fillRect/>
          </a:stretch>
        </p:blipFill>
        <p:spPr>
          <a:xfrm>
            <a:off x="4662750" y="742948"/>
            <a:ext cx="3785081" cy="1828801"/>
          </a:xfrm>
          <a:prstGeom prst="rect">
            <a:avLst/>
          </a:prstGeom>
        </p:spPr>
      </p:pic>
      <p:sp>
        <p:nvSpPr>
          <p:cNvPr id="27" name="Text 10">
            <a:extLst>
              <a:ext uri="{FF2B5EF4-FFF2-40B4-BE49-F238E27FC236}">
                <a16:creationId xmlns:a16="http://schemas.microsoft.com/office/drawing/2014/main" id="{99127F95-1115-950F-5E4E-4EE9D1331AC8}"/>
              </a:ext>
            </a:extLst>
          </p:cNvPr>
          <p:cNvSpPr txBox="1"/>
          <p:nvPr/>
        </p:nvSpPr>
        <p:spPr>
          <a:xfrm>
            <a:off x="2586115" y="1973626"/>
            <a:ext cx="1377476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cs typeface="Arial" pitchFamily="34" charset="-120"/>
              </a:rPr>
              <a:t>Tolerance Stack Up</a:t>
            </a:r>
            <a:endParaRPr lang="en-US" sz="10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8B6F3948-3C4B-6835-8D0E-907B2B84CE08}"/>
              </a:ext>
            </a:extLst>
          </p:cNvPr>
          <p:cNvSpPr txBox="1"/>
          <p:nvPr/>
        </p:nvSpPr>
        <p:spPr>
          <a:xfrm>
            <a:off x="441569" y="1973626"/>
            <a:ext cx="1397203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SolidWorks / CAD</a:t>
            </a:r>
            <a:endParaRPr lang="en-US" sz="10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452E84AD-762F-9416-69F3-029ABBBFF3C5}"/>
              </a:ext>
            </a:extLst>
          </p:cNvPr>
          <p:cNvSpPr txBox="1"/>
          <p:nvPr/>
        </p:nvSpPr>
        <p:spPr>
          <a:xfrm>
            <a:off x="434338" y="3647929"/>
            <a:ext cx="3310487" cy="296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/>
              <a:t>Materials machined:</a:t>
            </a: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4CCF5E22-A3FB-1720-12EF-20591A9A7FEE}"/>
              </a:ext>
            </a:extLst>
          </p:cNvPr>
          <p:cNvSpPr txBox="1"/>
          <p:nvPr/>
        </p:nvSpPr>
        <p:spPr>
          <a:xfrm>
            <a:off x="457200" y="3900709"/>
            <a:ext cx="1738924" cy="9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/>
              <a:t>C360 Brass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/>
              <a:t>1020 Carbon Steel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/>
              <a:t>6061 Aluminum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1D2B567C-F4D1-9D20-667A-FF381B031048}"/>
              </a:ext>
            </a:extLst>
          </p:cNvPr>
          <p:cNvSpPr txBox="1"/>
          <p:nvPr/>
        </p:nvSpPr>
        <p:spPr>
          <a:xfrm>
            <a:off x="2196124" y="3900709"/>
            <a:ext cx="1738924" cy="97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/>
              <a:t>303 Stainless Steel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/>
              <a:t>Wood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/>
              <a:t>Acrylic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tahlia@engineering.upenn.edu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49808"/>
            <a:ext cx="1362456" cy="237744"/>
          </a:xfrm>
          <a:prstGeom prst="rect">
            <a:avLst/>
          </a:prstGeom>
          <a:noFill/>
          <a:ln w="12700">
            <a:solidFill>
              <a:srgbClr val="2E5C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273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Shelf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83082"/>
            <a:ext cx="1183234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731874" y="1583082"/>
            <a:ext cx="1397203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SolidWorks / CAD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C6FB844-A72D-7EC2-DA9A-973B5BEEA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337" y="1924794"/>
            <a:ext cx="2593757" cy="26503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21C3BD-A0CE-1885-47AD-A2B74003D4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829" r="16993"/>
          <a:stretch>
            <a:fillRect/>
          </a:stretch>
        </p:blipFill>
        <p:spPr>
          <a:xfrm>
            <a:off x="6412523" y="1920239"/>
            <a:ext cx="2274277" cy="2654900"/>
          </a:xfrm>
          <a:prstGeom prst="rect">
            <a:avLst/>
          </a:prstGeom>
        </p:spPr>
      </p:pic>
      <p:sp>
        <p:nvSpPr>
          <p:cNvPr id="11" name="Text 9">
            <a:extLst>
              <a:ext uri="{FF2B5EF4-FFF2-40B4-BE49-F238E27FC236}">
                <a16:creationId xmlns:a16="http://schemas.microsoft.com/office/drawing/2014/main" id="{8F0BDA58-D917-C023-27DA-AAD43E5099BC}"/>
              </a:ext>
            </a:extLst>
          </p:cNvPr>
          <p:cNvSpPr txBox="1"/>
          <p:nvPr/>
        </p:nvSpPr>
        <p:spPr>
          <a:xfrm>
            <a:off x="457200" y="1991533"/>
            <a:ext cx="2671877" cy="251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/>
              <a:t>Driven by the need to optimize spatial efficiency, I engineered a minimalist display solution featuring a modular architecture for seamless </a:t>
            </a:r>
            <a:r>
              <a:rPr lang="en-US" sz="1400" b="1"/>
              <a:t>Design for Disassembly (DfD). </a:t>
            </a:r>
          </a:p>
          <a:p>
            <a:endParaRPr lang="en-US" sz="1400"/>
          </a:p>
          <a:p>
            <a:r>
              <a:rPr lang="en-US" sz="1400"/>
              <a:t>The system was modeled in SolidWorks and </a:t>
            </a:r>
            <a:r>
              <a:rPr lang="en-US" sz="1400" b="1"/>
              <a:t>rapidly prototyped </a:t>
            </a:r>
            <a:r>
              <a:rPr lang="en-US" sz="1400"/>
              <a:t>with </a:t>
            </a:r>
            <a:r>
              <a:rPr lang="en-US" sz="1400" b="1"/>
              <a:t>laser-cut</a:t>
            </a:r>
            <a:r>
              <a:rPr lang="en-US" sz="1400"/>
              <a:t> 0.25" clear acrylic to maintain an unobtrusive visual footprint.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8E9BF0F-75BC-CAA2-FD98-633E91A3E234}"/>
              </a:ext>
            </a:extLst>
          </p:cNvPr>
          <p:cNvSpPr txBox="1"/>
          <p:nvPr/>
        </p:nvSpPr>
        <p:spPr>
          <a:xfrm>
            <a:off x="3220517" y="1583082"/>
            <a:ext cx="1111910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DFM/DFA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6788553-1852-B7C1-521D-F852912DDFB7}"/>
              </a:ext>
            </a:extLst>
          </p:cNvPr>
          <p:cNvSpPr txBox="1"/>
          <p:nvPr/>
        </p:nvSpPr>
        <p:spPr>
          <a:xfrm>
            <a:off x="4423867" y="1583082"/>
            <a:ext cx="1468526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tahlia@engineering.upenn.edu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49808"/>
            <a:ext cx="1362456" cy="237744"/>
          </a:xfrm>
          <a:prstGeom prst="rect">
            <a:avLst/>
          </a:prstGeom>
          <a:noFill/>
          <a:ln w="12700">
            <a:solidFill>
              <a:srgbClr val="2E5C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273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Box Shelf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83082"/>
            <a:ext cx="1183234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731874" y="1583082"/>
            <a:ext cx="1397203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SolidWorks / CAD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20517" y="1583082"/>
            <a:ext cx="1111910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Design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53972"/>
            <a:ext cx="2263140" cy="251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/>
              <a:t>Merging form and function, I engineered a figurine shelf that seamlessly </a:t>
            </a:r>
            <a:r>
              <a:rPr lang="en-US" sz="1400" b="1"/>
              <a:t>integrates an aesthetic display with practical storage</a:t>
            </a:r>
            <a:r>
              <a:rPr lang="en-US" sz="1400"/>
              <a:t>. </a:t>
            </a:r>
          </a:p>
          <a:p>
            <a:endParaRPr lang="en-US" sz="1400"/>
          </a:p>
          <a:p>
            <a:r>
              <a:rPr lang="en-US" sz="1400"/>
              <a:t>The concept was parametrically modeled in </a:t>
            </a:r>
            <a:r>
              <a:rPr lang="en-US" sz="1400" b="1"/>
              <a:t>SolidWorks</a:t>
            </a:r>
            <a:r>
              <a:rPr lang="en-US" sz="1400"/>
              <a:t> and rapidly prototyped using laser-cut ¼” MDF.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30EFFB7-FAB7-11A8-B1EB-E8E8D3178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077" y="1986536"/>
            <a:ext cx="2512312" cy="251231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D584EFA-E168-19E1-570B-38DAB13584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92" t="5482" r="14208" b="11950"/>
          <a:stretch>
            <a:fillRect/>
          </a:stretch>
        </p:blipFill>
        <p:spPr>
          <a:xfrm>
            <a:off x="5921809" y="1986536"/>
            <a:ext cx="2990850" cy="2512312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8E89157-86E0-5C32-0718-4EA5B826AD50}"/>
              </a:ext>
            </a:extLst>
          </p:cNvPr>
          <p:cNvSpPr txBox="1"/>
          <p:nvPr/>
        </p:nvSpPr>
        <p:spPr>
          <a:xfrm>
            <a:off x="4423867" y="1583082"/>
            <a:ext cx="1111910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DFM/DFA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C71D17B-FB85-A315-D1CB-CC9CEDA0C93F}"/>
              </a:ext>
            </a:extLst>
          </p:cNvPr>
          <p:cNvSpPr txBox="1"/>
          <p:nvPr/>
        </p:nvSpPr>
        <p:spPr>
          <a:xfrm>
            <a:off x="5627217" y="1583082"/>
            <a:ext cx="1468526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tahlia@engineering.upenn.edu</a:t>
            </a:r>
            <a:endParaRPr lang="en-US" sz="10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806B019B-7E73-AF7F-234A-7F616CCC498F}"/>
              </a:ext>
            </a:extLst>
          </p:cNvPr>
          <p:cNvSpPr txBox="1"/>
          <p:nvPr/>
        </p:nvSpPr>
        <p:spPr>
          <a:xfrm>
            <a:off x="457200" y="749808"/>
            <a:ext cx="1362456" cy="237744"/>
          </a:xfrm>
          <a:prstGeom prst="rect">
            <a:avLst/>
          </a:prstGeom>
          <a:noFill/>
          <a:ln w="12700">
            <a:solidFill>
              <a:srgbClr val="2E5C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</a:t>
            </a:r>
            <a:endParaRPr lang="en-US" sz="10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D263DC2F-A24C-ADF5-810D-AF280CA64B72}"/>
              </a:ext>
            </a:extLst>
          </p:cNvPr>
          <p:cNvSpPr txBox="1"/>
          <p:nvPr/>
        </p:nvSpPr>
        <p:spPr>
          <a:xfrm>
            <a:off x="457199" y="1052730"/>
            <a:ext cx="5240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Kitty Makeup Organizer</a:t>
            </a:r>
            <a:endParaRPr lang="en-US" sz="28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C55FB904-78AF-4CFA-6663-817D9CC1DA64}"/>
              </a:ext>
            </a:extLst>
          </p:cNvPr>
          <p:cNvSpPr txBox="1"/>
          <p:nvPr/>
        </p:nvSpPr>
        <p:spPr>
          <a:xfrm>
            <a:off x="457200" y="1583082"/>
            <a:ext cx="1183234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Printing</a:t>
            </a:r>
            <a:endParaRPr lang="en-US" sz="10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653B1A93-03C6-6142-9031-B8BEBF2B710A}"/>
              </a:ext>
            </a:extLst>
          </p:cNvPr>
          <p:cNvSpPr txBox="1"/>
          <p:nvPr/>
        </p:nvSpPr>
        <p:spPr>
          <a:xfrm>
            <a:off x="1731874" y="1583082"/>
            <a:ext cx="1397203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SolidWorks / CAD</a:t>
            </a:r>
            <a:endParaRPr lang="en-US" sz="10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EFEF88CC-5ABD-548B-BFC7-D22589C2A0D6}"/>
              </a:ext>
            </a:extLst>
          </p:cNvPr>
          <p:cNvSpPr txBox="1"/>
          <p:nvPr/>
        </p:nvSpPr>
        <p:spPr>
          <a:xfrm>
            <a:off x="3220517" y="1583082"/>
            <a:ext cx="1111910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DFM/DFA</a:t>
            </a:r>
            <a:endParaRPr lang="en-US" sz="10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19079F39-5D78-78DC-D7C2-281E86E1BEFE}"/>
              </a:ext>
            </a:extLst>
          </p:cNvPr>
          <p:cNvSpPr txBox="1"/>
          <p:nvPr/>
        </p:nvSpPr>
        <p:spPr>
          <a:xfrm>
            <a:off x="480059" y="2053972"/>
            <a:ext cx="2851516" cy="2103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/>
              <a:t>After noticing my makeup frequently falling off due to my limited counter space, I measured my actual makeup collection and used </a:t>
            </a:r>
            <a:r>
              <a:rPr lang="en-US" sz="1400" b="1"/>
              <a:t>SolidWorks to design</a:t>
            </a:r>
            <a:r>
              <a:rPr lang="en-US" sz="1400"/>
              <a:t> a vertical organizer perfectly sized for my needs. </a:t>
            </a:r>
          </a:p>
          <a:p>
            <a:endParaRPr lang="en-US" sz="1400"/>
          </a:p>
          <a:p>
            <a:r>
              <a:rPr lang="en-US" sz="1400"/>
              <a:t>I 3D printed this using ABS with dissolvable supports and finished with a personalized spray-painted color.</a:t>
            </a:r>
            <a:endParaRPr lang="en-US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9F98914-6085-7750-F57B-D257E255AD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47" t="8813" r="13804" b="7496"/>
          <a:stretch>
            <a:fillRect/>
          </a:stretch>
        </p:blipFill>
        <p:spPr>
          <a:xfrm>
            <a:off x="4833816" y="1950467"/>
            <a:ext cx="2851516" cy="2437027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5E416C28-AD0F-DAC3-6540-DCA68E2F59CB}"/>
              </a:ext>
            </a:extLst>
          </p:cNvPr>
          <p:cNvSpPr txBox="1"/>
          <p:nvPr/>
        </p:nvSpPr>
        <p:spPr>
          <a:xfrm>
            <a:off x="4423867" y="1583082"/>
            <a:ext cx="1468526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tahlia@engineering.upenn.edu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77240"/>
            <a:ext cx="1284732" cy="237744"/>
          </a:xfrm>
          <a:prstGeom prst="rect">
            <a:avLst/>
          </a:prstGeom>
          <a:noFill/>
          <a:ln w="12700">
            <a:solidFill>
              <a:srgbClr val="2E5C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15568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Pollution Model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20340"/>
            <a:ext cx="2788920" cy="1778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/>
              <a:t>To overcome </a:t>
            </a:r>
            <a:r>
              <a:rPr lang="en-US" sz="1400" b="1"/>
              <a:t>computational bottlenecks</a:t>
            </a:r>
            <a:r>
              <a:rPr lang="en-US" sz="1400"/>
              <a:t> in high-resolution vehicular emissions modeling, I engineered a scalable </a:t>
            </a:r>
            <a:r>
              <a:rPr lang="en-US" sz="1400" b="1"/>
              <a:t>superposition algorithm and unit-road dictionary,</a:t>
            </a:r>
            <a:r>
              <a:rPr lang="en-US" sz="1400"/>
              <a:t> successfully validating this accelerated pipeline on a 36-road network in Ohio.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1" y="1984248"/>
            <a:ext cx="327355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75996" y="1984248"/>
            <a:ext cx="1397203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 MOVES/R-LINE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13432"/>
            <a:ext cx="1105875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57EC175-E018-D60E-6768-48465F19F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339" y="1326876"/>
            <a:ext cx="4830733" cy="2978952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48DFB97E-E2C4-C115-2824-15FC9EC47CF2}"/>
              </a:ext>
            </a:extLst>
          </p:cNvPr>
          <p:cNvSpPr txBox="1"/>
          <p:nvPr/>
        </p:nvSpPr>
        <p:spPr>
          <a:xfrm>
            <a:off x="1639013" y="2313432"/>
            <a:ext cx="1397203" cy="256032"/>
          </a:xfrm>
          <a:prstGeom prst="rect">
            <a:avLst/>
          </a:prstGeom>
          <a:solidFill>
            <a:srgbClr val="E7EEF7"/>
          </a:solidFill>
          <a:ln w="12700">
            <a:solidFill>
              <a:srgbClr val="C9D9E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 Wu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182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0"/>
          </a:xfrm>
          <a:prstGeom prst="line">
            <a:avLst/>
          </a:prstGeom>
          <a:noFill/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tahlia@engineering.upenn.edu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98464" y="297180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26480" y="2843784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22128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3" name="Text 11">
            <a:hlinkClick r:id="rId4"/>
          </p:cNvPr>
          <p:cNvSpPr txBox="1"/>
          <p:nvPr/>
        </p:nvSpPr>
        <p:spPr>
          <a:xfrm>
            <a:off x="685800" y="2468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linkedin.com/in/tahlia-wu-508aa8326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98464" y="4023360"/>
            <a:ext cx="128016" cy="0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3895344"/>
            <a:ext cx="0" cy="128016"/>
          </a:xfrm>
          <a:prstGeom prst="line">
            <a:avLst/>
          </a:prstGeom>
          <a:noFill/>
          <a:ln w="254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3264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00" dirty="0"/>
          </a:p>
        </p:txBody>
      </p:sp>
      <p:sp>
        <p:nvSpPr>
          <p:cNvPr id="20" name="Text 18">
            <a:hlinkClick r:id="rId5"/>
          </p:cNvPr>
          <p:cNvSpPr txBox="1"/>
          <p:nvPr/>
        </p:nvSpPr>
        <p:spPr>
          <a:xfrm>
            <a:off x="685800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1B3A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tahlia@engineering.upenn.edu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535</Words>
  <Application>Microsoft Macintosh PowerPoint</Application>
  <PresentationFormat>On-screen Show (16:9)</PresentationFormat>
  <Paragraphs>122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Tahlia Wu — Engineering Portfolio</dc:title>
  <dc:subject>PptxGenJS Presentation</dc:subject>
  <dc:creator>Tahlia Wu</dc:creator>
  <cp:lastModifiedBy>Wu, Tahlia Yue</cp:lastModifiedBy>
  <cp:revision>7</cp:revision>
  <dcterms:created xsi:type="dcterms:W3CDTF">2026-10-10T03:46:21Z</dcterms:created>
  <dcterms:modified xsi:type="dcterms:W3CDTF">2026-10-16T19:55:33Z</dcterms:modified>
</cp:coreProperties>
</file>